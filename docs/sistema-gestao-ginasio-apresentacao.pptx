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tos"/>
              </a:rPr>
              <a:t>Sistema de Gestão para Ginásios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92024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0">
                <a:solidFill>
                  <a:srgbClr val="DAE5EE"/>
                </a:solidFill>
                <a:latin typeface="Aptos"/>
              </a:rPr>
              <a:t>Desktop WPF + API Web + Sincronização Centralizada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78892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ptos"/>
              </a:rPr>
              <a:t>Uma solução completa para controlar utentes, contratos, acessos, caixa, loja, CRM, SMS e múltiplas unidades do mesmo grupo.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4663440"/>
            <a:ext cx="1828800" cy="4114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4736592"/>
            <a:ext cx="16824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Operação local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663440"/>
            <a:ext cx="2103120" cy="4114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16352" y="4736592"/>
            <a:ext cx="19568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Sincronização 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4663440"/>
            <a:ext cx="1600200" cy="4114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4736592"/>
            <a:ext cx="1453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CRM e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663440"/>
            <a:ext cx="1691640" cy="4114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4736592"/>
            <a:ext cx="1545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Multiunidade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7220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DAE5EE"/>
                </a:solidFill>
                <a:latin typeface="Aptos"/>
              </a:rPr>
              <a:t>Proposta funcional inicial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O que o sistema entrega para a operação diária do ginásio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8313B"/>
                </a:solidFill>
                <a:latin typeface="Aptos"/>
              </a:rPr>
              <a:t>O sistema centraliza toda a operação do ginásio, desde o cadastro do utente até à entrada pela catraca, pagamento, acompanhamento físico, fidelização e gestão financeira.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8803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880360"/>
            <a:ext cx="109728" cy="14173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0449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Controlo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456432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Utentes, colaboradores, permissões, contratos, planos e acessos.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8803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2880360"/>
            <a:ext cx="109728" cy="14173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30449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Controlo financeiro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3456432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Caixa, pagamentos, vendas, reativações, produtos e serviços.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8803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2880360"/>
            <a:ext cx="109728" cy="14173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30449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Relacionamento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3456432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CRM, SMS, bónus, campanhas, aniversários e recuperação de ausentes.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Objetivos do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Resultados esperados para o cliente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Reduzir controlo manual e erros em cadastros, pagamentos e acessos.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Evitar entradas indevidas através de validação automática de contrato, pagamento e cartão/tag.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Dar visibilidade ao caixa, vendas, mensalidades e reativações.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Acompanhar a evolução física do utente com avaliações periódicas.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Aumentar fidelização com CRM, bónus, campanhas e SMS automáticos.</a:t>
            </a:r>
          </a:p>
          <a:p>
            <a:pPr>
              <a:spcAft>
                <a:spcPts val="700"/>
              </a:spcAft>
              <a:defRPr sz="2000">
                <a:solidFill>
                  <a:srgbClr val="28313B"/>
                </a:solidFill>
                <a:latin typeface="Aptos"/>
              </a:defRPr>
            </a:pPr>
            <a:r>
              <a:t>Preparar o grupo para operar várias unidades sincronizadas pela API web.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Módulos principais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Mapa funcional da solução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9728" cy="105156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Usuários e permissões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26771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691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691640"/>
            <a:ext cx="109728" cy="105156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7" y="185623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Utentes e contratos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7" y="226771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91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691640"/>
            <a:ext cx="109728" cy="105156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5623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Pacotes/subscrições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26771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1089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109728" cy="105156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2735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Acessos e catraca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68503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31089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80559" y="3108960"/>
            <a:ext cx="109728" cy="105156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1727" y="32735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Avaliação física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7" y="368503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0" y="3108960"/>
            <a:ext cx="109728" cy="105156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0768" y="32735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Loja e vendas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368503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5262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4526280"/>
            <a:ext cx="109728" cy="105156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69087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Caixa financeiro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510235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5262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80559" y="4526280"/>
            <a:ext cx="109728" cy="105156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7" y="469087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CRM, bónus e SMS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1727" y="510235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0" y="45262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29600" y="4526280"/>
            <a:ext cx="109728" cy="105156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0768" y="469087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Sincronização web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0768" y="5102352"/>
            <a:ext cx="3108960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Funcionalidade essencial para gerir o ginásio de forma integrada.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Usuários, perfis e permissões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Segurança e organização interna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9728" cy="137160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Perfis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267712"/>
            <a:ext cx="31546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Gestor, Administrador, Recepcionista, Caixa, Treinador e outros perfis configuráveis.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91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1691640"/>
            <a:ext cx="109728" cy="137160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Permissões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67712"/>
            <a:ext cx="31546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Cada perfil recebe uma lista de permissões por módulo: criar, editar, consultar, eliminar, vender, autorizar, etc.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109728" cy="137160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267712"/>
            <a:ext cx="31546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Registo de quem criou, alterou, eliminou ou executou ações sensíveis no sistema.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03320"/>
            <a:ext cx="10241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treinador pode acompanhar avaliações físicas sem aceder ao caixa.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recepcionista pode cadastrar utentes e validar pagamentos permitidos.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gestor tem visão consolidada de acessos, finanças, vendas e relatórios.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Gestão de utentes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Cadastro, histórico e acompanhamento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Cadastro completo: dados pessoais, contactos, fotografia, unidade de origem e estado.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Histórico de contratos, subscrições, pagamentos, acessos e observações.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Associação com cartão, tag ou outro dispositivo de acesso.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Acompanhamento físico com avaliações mensais e objetivos definidos.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Registos de fidelização, bónus, campanhas e comunicações enviadas.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828800"/>
            <a:ext cx="4434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03720" y="1828800"/>
            <a:ext cx="109728" cy="21031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04888" y="1993392"/>
            <a:ext cx="4114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Resultado prático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2404872"/>
            <a:ext cx="411480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O ginásio sabe quem é o utente, se pode entrar, o que já pagou, como está a treinar, quando deve voltar para avaliação e que comunicações recebeu.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Pacotes, subscrições e contratos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Regras comerciais do ginásio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2148840" cy="4114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Diário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91640"/>
            <a:ext cx="2148840" cy="4114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Semanal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2148840" cy="4114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Quinzenal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691640"/>
            <a:ext cx="2148840" cy="4114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76479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Mensal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31720"/>
            <a:ext cx="2148840" cy="4114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331720"/>
            <a:ext cx="2148840" cy="4114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Avulso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2148840" cy="4114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Premium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331720"/>
            <a:ext cx="2148840" cy="4114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5712" y="2404872"/>
            <a:ext cx="2002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Aulas + Musculação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3375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Cada contrato tem data de início, data de fim, preço, estado e pacote associado.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Estados possíveis: ativo, vencido, suspenso, cancelado ou pendente de pagamento.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O sistema pode controlar renovação, reativação e histórico de alterações.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 política de acesso depende do contrato e das regras da unidade.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Controlo de acesso por cartão/tag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Validação antes de liberar a entrada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594360" cy="594360"/>
          </a:xfrm>
          <a:prstGeom prst="ellipse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Utente passa cartão/tag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07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71800" y="1828800"/>
            <a:ext cx="594360" cy="594360"/>
          </a:xfrm>
          <a:prstGeom prst="ellipse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Sistema identifica dispositivo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257800" y="1828800"/>
            <a:ext cx="594360" cy="594360"/>
          </a:xfrm>
          <a:prstGeom prst="ellipse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Valida contrato e pagamento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543800" y="1828800"/>
            <a:ext cx="594360" cy="594360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Autoriza ou bloqueia acesso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65592" y="2121408"/>
            <a:ext cx="1389888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829800" y="1828800"/>
            <a:ext cx="594360" cy="594360"/>
          </a:xfrm>
          <a:prstGeom prst="ellipse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1938528"/>
            <a:ext cx="594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73768" y="2606040"/>
            <a:ext cx="1143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8313B"/>
                </a:solidFill>
                <a:latin typeface="Aptos"/>
              </a:rPr>
              <a:t>Regista histórico da tentativa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160520"/>
            <a:ext cx="99669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7280" y="4160520"/>
            <a:ext cx="109728" cy="114300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325112"/>
            <a:ext cx="9646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Motivos de bloqueio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4736592"/>
            <a:ext cx="9646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8313B"/>
                </a:solidFill>
                <a:latin typeface="Aptos"/>
              </a:rPr>
              <a:t>Contrato vencido, pagamento pendente, dispositivo bloqueado, cartão desconhecido, limite multiunidade atingido ou regra configurável.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Avaliação física e evolução do 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Acompanhamento periódico do progresso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577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Registo de peso, altura, medidas, objetivos, observações e treinador responsável.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Agendamento da próxima avaliação com base na data de início ou regra mensal.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Histórico de evolução para comparar resultados ao longo do tempo.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Alertas e SMS para lembrar o utente da próxima avaliação física.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874519"/>
            <a:ext cx="4297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0" y="1874519"/>
            <a:ext cx="109728" cy="164592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9168" y="2039112"/>
            <a:ext cx="3977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Exemplo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9168" y="2450591"/>
            <a:ext cx="39776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Se o utente começa a treinar no dia 4, o sistema pode sugerir uma avaliação física a cada dia 4 dos meses seguintes.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886200"/>
            <a:ext cx="4297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0" y="388620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4050791"/>
            <a:ext cx="3977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Benefício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4462272"/>
            <a:ext cx="3977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O treinador acompanha resultados, melhora a orientação e aumenta a perceção de valor do serviço.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Loja, produtos e serviços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Vendas integradas ao caixa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9728" cy="14173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Produtos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31546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Suplementos, água, roupas, acessórios e outros itens com controlo de estoque.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109728" cy="14173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Serviços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67712"/>
            <a:ext cx="31546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Personal trainer, avaliação extra, aulas avulsas, reativação e outros serviços.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91640"/>
            <a:ext cx="3474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5279" y="1691640"/>
            <a:ext cx="109728" cy="14173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856232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Movimentos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267712"/>
            <a:ext cx="31546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Entrada, saída, venda, ajuste, perda, devolução e histórico de movimentações.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947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 venda é registada com itens, quantidade, preço, desconto e total.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Produtos com estoque geram movimentos automáticos na venda.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O recebimento financeiro fica ligado ao caixa através de transações.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Caixa e transações financeiras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Um centro único para entradas e saídas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Mensalidades, anuidades e planos avulsos.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Produtos e serviços vendidos.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Reativação de contrato.</a:t>
            </a:r>
          </a:p>
          <a:p>
            <a:pPr>
              <a:spcAft>
                <a:spcPts val="700"/>
              </a:spcAft>
              <a:defRPr sz="1900">
                <a:solidFill>
                  <a:srgbClr val="28313B"/>
                </a:solidFill>
                <a:latin typeface="Aptos"/>
              </a:defRPr>
            </a:pPr>
            <a:r>
              <a:t>Ajustes, devoluções e outras movimentações.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4663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0" y="1691640"/>
            <a:ext cx="109728" cy="150876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1856232"/>
            <a:ext cx="4343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CashierTransaction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267712"/>
            <a:ext cx="4343400" cy="8229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Cada transação identifica origem, valor, forma de pagamento, operador, unidade e sessão de caixa.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520440"/>
            <a:ext cx="4663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3685032"/>
            <a:ext cx="4343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E2340"/>
                </a:solidFill>
                <a:latin typeface="Aptos"/>
              </a:rPr>
              <a:t>Formas de pagamento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4096512"/>
            <a:ext cx="4343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28313B"/>
                </a:solidFill>
                <a:latin typeface="Aptos"/>
              </a:rPr>
              <a:t>Dinheiro, cartão, transferência bancária, mobile money ou outros métodos configuráveis.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CRM, fidelização e bónus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Relacionamento ativo com o utente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9728" cy="123444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562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Ausentes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Identificar utentes que não aparecem há vários dias.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109728" cy="123444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8562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Bónus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2677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Atribuir dias grátis, descontos ou benefícios por fidelização.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918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291840"/>
            <a:ext cx="109728" cy="123444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564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Campanhas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8679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Criar promoções para renovação, reativação ou venda de serviços.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291840"/>
            <a:ext cx="4983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3291840"/>
            <a:ext cx="109728" cy="123444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456432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Histórico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86791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8313B"/>
                </a:solidFill>
                <a:latin typeface="Aptos"/>
              </a:rPr>
              <a:t>Registar SMS, contactos, campanhas e respostas do utente.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149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E2340"/>
                </a:solidFill>
                <a:latin typeface="Aptos"/>
              </a:rPr>
              <a:t>Objetivo: manter os utentes ativos, recuperar clientes inativos e aumentar a retenção.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Critérios para envio de 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Automação com o provedor SMS existente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Boas-vindas quando o utente é cadastrado.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Aviso X dias antes do vencimento do contrato.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Notificação quando o contrato vence.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Mensagem para ausentes após 7, 15 ou 30 dias sem acesso.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Lembrete de avaliação física/check-up.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Aniversário do utente.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Bónus, promoções e campanhas de reativação.</a:t>
            </a:r>
          </a:p>
          <a:p>
            <a:pPr>
              <a:spcAft>
                <a:spcPts val="700"/>
              </a:spcAft>
              <a:defRPr sz="1800">
                <a:solidFill>
                  <a:srgbClr val="28313B"/>
                </a:solidFill>
                <a:latin typeface="Aptos"/>
              </a:defRPr>
            </a:pPr>
            <a:r>
              <a:t>Alerta de pagamento pendente ou bloqueio iminente.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Ginásios do mesmo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Acesso entre unidades com regras configuráveis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0">
                <a:solidFill>
                  <a:srgbClr val="28313B"/>
                </a:solidFill>
                <a:latin typeface="Aptos"/>
              </a:rPr>
              <a:t>Um utente cadastrado numa unidade pode frequentar outra unidade do mesmo grupo, respeitando as regras de pacote, preço e limite de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4320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743200"/>
            <a:ext cx="109728" cy="13258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07792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Mesmo grupo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319272"/>
            <a:ext cx="2971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 API web centraliza os dados e permite que as unidades reconheçam o utente.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74320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2743200"/>
            <a:ext cx="109728" cy="13258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2907792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Pacotes diferentes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319272"/>
            <a:ext cx="2971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Se houver diferença de pacote/preço, o sistema pode limitar o acesso externo.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74320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274320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2907792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Limite configurável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3319272"/>
            <a:ext cx="2971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Exemplo: permitir apenas 10 dias numa unidade diferente da unidade de origem.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Arquitetura proposta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C# WPF com arquitetura limpa e API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09728" cy="196596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WPF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Telas desktop, MVVM, navegação e interação do utilizador.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5292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5468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1828800"/>
            <a:ext cx="109728" cy="196596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Casos de uso: cadastrar, pagar, validar acesso, vender, sincronizar.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9320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9496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1828800"/>
            <a:ext cx="109728" cy="196596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9612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Domínio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Entidades, regras de negócio e invariantes centrais.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3348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3524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35240" y="1828800"/>
            <a:ext cx="109728" cy="196596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3640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Infraestrutura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Banco local, API, catraca, SMS, repositórios e integrações.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73768" y="2816352"/>
            <a:ext cx="274320" cy="0"/>
          </a:xfrm>
          <a:prstGeom prst="line">
            <a:avLst/>
          </a:prstGeom>
          <a:ln w="19050">
            <a:solidFill>
              <a:srgbClr val="68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875520" y="1828800"/>
            <a:ext cx="1920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75520" y="1828800"/>
            <a:ext cx="109728" cy="196596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6688" y="1993392"/>
            <a:ext cx="1600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E2340"/>
                </a:solidFill>
                <a:latin typeface="Aptos"/>
              </a:rPr>
              <a:t>API 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6688" y="2404872"/>
            <a:ext cx="1600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28313B"/>
                </a:solidFill>
                <a:latin typeface="Aptos"/>
              </a:rPr>
              <a:t>Dados centralizados, sincronização e expansão futura.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0E2340"/>
                </a:solidFill>
                <a:latin typeface="Aptos"/>
              </a:rPr>
              <a:t>Separação clara entre regras de negócio, interface, banco de dados e integrações externas.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Desktop offline + sincronização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Operação local mesmo com falha de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9728" cy="141732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019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Banco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13432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O desktop mantém dados essenciais para operar acessos, pagamentos e cadastros.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09728" cy="141732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9019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Fila de sincronização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313432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Alterações locais ficam pendentes até serem enviadas à API web.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109728" cy="14173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019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0E2340"/>
                </a:solidFill>
                <a:latin typeface="Aptos"/>
              </a:rPr>
              <a:t>Servidor central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313432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A API consolida dados entre unidades e permite gestão futura pela web.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10149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A catraca continua a funcionar com os dados sincronizados localmente.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Pagamentos, acessos e vendas podem ser registados localmente.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Quando a internet voltar, os dados são sincronizados com o servidor.</a:t>
            </a:r>
          </a:p>
          <a:p>
            <a:pPr>
              <a:spcAft>
                <a:spcPts val="700"/>
              </a:spcAft>
              <a:defRPr sz="1700">
                <a:solidFill>
                  <a:srgbClr val="28313B"/>
                </a:solidFill>
                <a:latin typeface="Aptos"/>
              </a:defRPr>
            </a:pPr>
            <a:r>
              <a:t>Conflitos podem ser identificados por versão, data e estado de sincronização.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E2340"/>
                </a:solidFill>
                <a:latin typeface="Aptos"/>
              </a:rPr>
              <a:t>Benefícios para o cliente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32688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87480"/>
                </a:solidFill>
                <a:latin typeface="Aptos"/>
              </a:rPr>
              <a:t>Valor entregue ao ginásio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143000" cy="54864"/>
          </a:xfrm>
          <a:prstGeom prst="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9728" cy="1325880"/>
          </a:xfrm>
          <a:prstGeom prst="roundRect">
            <a:avLst/>
          </a:prstGeom>
          <a:solidFill>
            <a:srgbClr val="217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Mais controlo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2199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Operação organizada e auditável.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64592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109728" cy="1325880"/>
          </a:xfrm>
          <a:prstGeom prst="roundRect">
            <a:avLst/>
          </a:prstGeom>
          <a:solidFill>
            <a:srgbClr val="D1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181051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Menos perdas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22199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Bloqueio automático de inadimplentes e acessos indevidos.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109728" cy="132588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1051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Melhor caixa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22199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Visão clara de entradas, vendas e formas de pagamento.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33756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337560"/>
            <a:ext cx="109728" cy="1325880"/>
          </a:xfrm>
          <a:prstGeom prst="roundRect">
            <a:avLst/>
          </a:prstGeom>
          <a:solidFill>
            <a:srgbClr val="F19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35021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Mais retenção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1363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CRM, SMS e bónus para manter clientes ativos.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33756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26280" y="3337560"/>
            <a:ext cx="109728" cy="1325880"/>
          </a:xfrm>
          <a:prstGeom prst="roundRect">
            <a:avLst/>
          </a:prstGeom>
          <a:solidFill>
            <a:srgbClr val="00A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27448" y="35021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Crescimento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391363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Preparado para várias unidades do mesmo grupo.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337560"/>
            <a:ext cx="33375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0" y="3337560"/>
            <a:ext cx="109728" cy="1325880"/>
          </a:xfrm>
          <a:prstGeom prst="roundRect">
            <a:avLst/>
          </a:prstGeom>
          <a:solidFill>
            <a:srgbClr val="0E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0768" y="350215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E2340"/>
                </a:solidFill>
                <a:latin typeface="Aptos"/>
              </a:rPr>
              <a:t>Dados confiáveis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3913632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28313B"/>
                </a:solidFill>
                <a:latin typeface="Aptos"/>
              </a:rPr>
              <a:t>Histórico completo para decisões e relatórios.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87480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315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Resumo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469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ptos"/>
              </a:rPr>
              <a:t>O sistema será uma plataforma completa para gerir o ginásio de ponta a ponta: cadastro, contratos, pagamentos, acesso, caixa, loja, acompanhamento físico, CRM, SMS, fidelização e gestão multiunidade.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00AEC7"/>
                </a:solidFill>
                <a:latin typeface="Aptos"/>
              </a:rPr>
              <a:t>Preparado para iniciar no desktop e crescer com dados centralizados na API web.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5074920"/>
            <a:ext cx="3886200" cy="502920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87952" y="5148072"/>
            <a:ext cx="37398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Pronto para evoluir para MVP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
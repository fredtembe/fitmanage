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ptos"/>
              </a:rPr>
              <a:t>Sistema de Gestão para Ginásios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92024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0">
                <a:solidFill>
                  <a:srgbClr val="DAE5EE"/>
                </a:solidFill>
                <a:latin typeface="Aptos"/>
              </a:rPr>
              <a:t>Desktop WPF + API Web + Sincronização Centralizada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788920"/>
            <a:ext cx="9966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ptos"/>
              </a:rPr>
              <a:t>Uma solução completa para controlar utentes, contratos, acessos, caixa, loja, CRM, SMS e múltiplas unidades do mesmo grupo.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4663440"/>
            <a:ext cx="1828800" cy="41148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4736592"/>
            <a:ext cx="16824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Operação local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663440"/>
            <a:ext cx="2103120" cy="41148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16352" y="4736592"/>
            <a:ext cx="19568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Sincronização 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4663440"/>
            <a:ext cx="1600200" cy="4114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4736592"/>
            <a:ext cx="14538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CRM e SMS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4663440"/>
            <a:ext cx="1691640" cy="41148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76872" y="4736592"/>
            <a:ext cx="1545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Multiunidade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172200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DAE5EE"/>
                </a:solidFill>
                <a:latin typeface="Aptos"/>
              </a:rPr>
              <a:t>Proposta funcional inicial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O que o sistema entrega para a operação diária do ginásio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28313B"/>
                </a:solidFill>
                <a:latin typeface="Aptos"/>
              </a:rPr>
              <a:t>O sistema centraliza toda a operação do ginásio, desde o cadastro do utente até à entrada pela catraca, pagamento, acompanhamento físico, fidelização e gestão financeira.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88036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880360"/>
            <a:ext cx="109728" cy="141732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0449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Controlo operacional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456432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Utentes, colaboradores, permissões, contratos, planos e acessos.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88036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2880360"/>
            <a:ext cx="109728" cy="141732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30449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Controlo financeiro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3456432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Caixa, pagamentos, vendas, reativações, produtos e serviços.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88036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01000" y="2880360"/>
            <a:ext cx="109728" cy="141732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30449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Relacionamento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3456432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CRM, SMS, bónus, campanhas, aniversários e recuperação de ausentes.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Objetivos do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Resultados esperados para o cliente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28313B"/>
                </a:solidFill>
                <a:latin typeface="Aptos"/>
              </a:defRPr>
            </a:pPr>
            <a:r>
              <a:t>Reduzir controlo manual e erros em cadastros, pagamentos e acessos.</a:t>
            </a:r>
          </a:p>
          <a:p>
            <a:pPr>
              <a:spcAft>
                <a:spcPts val="700"/>
              </a:spcAft>
              <a:defRPr sz="2000">
                <a:solidFill>
                  <a:srgbClr val="28313B"/>
                </a:solidFill>
                <a:latin typeface="Aptos"/>
              </a:defRPr>
            </a:pPr>
            <a:r>
              <a:t>Evitar entradas indevidas através de validação automática de contrato, pagamento e cartão/tag.</a:t>
            </a:r>
          </a:p>
          <a:p>
            <a:pPr>
              <a:spcAft>
                <a:spcPts val="700"/>
              </a:spcAft>
              <a:defRPr sz="2000">
                <a:solidFill>
                  <a:srgbClr val="28313B"/>
                </a:solidFill>
                <a:latin typeface="Aptos"/>
              </a:defRPr>
            </a:pPr>
            <a:r>
              <a:t>Dar visibilidade ao caixa, vendas, mensalidades e reativações.</a:t>
            </a:r>
          </a:p>
          <a:p>
            <a:pPr>
              <a:spcAft>
                <a:spcPts val="700"/>
              </a:spcAft>
              <a:defRPr sz="2000">
                <a:solidFill>
                  <a:srgbClr val="28313B"/>
                </a:solidFill>
                <a:latin typeface="Aptos"/>
              </a:defRPr>
            </a:pPr>
            <a:r>
              <a:t>Acompanhar a evolução física do utente com avaliações periódicas.</a:t>
            </a:r>
          </a:p>
          <a:p>
            <a:pPr>
              <a:spcAft>
                <a:spcPts val="700"/>
              </a:spcAft>
              <a:defRPr sz="2000">
                <a:solidFill>
                  <a:srgbClr val="28313B"/>
                </a:solidFill>
                <a:latin typeface="Aptos"/>
              </a:defRPr>
            </a:pPr>
            <a:r>
              <a:t>Aumentar fidelização com CRM, bónus, campanhas e SMS automáticos.</a:t>
            </a:r>
          </a:p>
          <a:p>
            <a:pPr>
              <a:spcAft>
                <a:spcPts val="700"/>
              </a:spcAft>
              <a:defRPr sz="2000">
                <a:solidFill>
                  <a:srgbClr val="28313B"/>
                </a:solidFill>
                <a:latin typeface="Aptos"/>
              </a:defRPr>
            </a:pPr>
            <a:r>
              <a:t>Preparar o grupo para operar várias unidades sincronizadas pela API web.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Módulos principais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Mapa funcional da solução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9728" cy="105156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5623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Usuários e permissões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26771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69164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80559" y="1691640"/>
            <a:ext cx="109728" cy="105156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7" y="185623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Utentes e contratos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7" y="226771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9164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1691640"/>
            <a:ext cx="109728" cy="105156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85623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Pacotes/subscrições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26771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10896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3108960"/>
            <a:ext cx="109728" cy="105156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2735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Acessos e catraca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68503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59" y="310896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80559" y="3108960"/>
            <a:ext cx="109728" cy="105156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1727" y="32735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Avaliação física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1727" y="368503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10896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0" y="3108960"/>
            <a:ext cx="109728" cy="105156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0768" y="32735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Lojá e vendas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0768" y="368503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52628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520" y="4526280"/>
            <a:ext cx="109728" cy="105156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69087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Caixa financeiro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510235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59" y="452628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480559" y="4526280"/>
            <a:ext cx="109728" cy="1051560"/>
          </a:xfrm>
          <a:prstGeom prst="roundRect">
            <a:avLst/>
          </a:prstGeom>
          <a:solidFill>
            <a:srgbClr val="D14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1727" y="469087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CRM, bónus e SMS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81727" y="510235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0" y="452628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229600" y="4526280"/>
            <a:ext cx="109728" cy="105156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30768" y="469087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Sincronização web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30768" y="510235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Usuários, perfis e permissões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Segurança e organização interna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109728" cy="137160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1856232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Perfis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267712"/>
            <a:ext cx="315467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Gestor, Administrador, Recepcionista, Caixa, Treinador e outros perfis configuráveis.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91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34840" y="1691640"/>
            <a:ext cx="109728" cy="137160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1856232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Permissões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267712"/>
            <a:ext cx="315467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Cada perfil recebe uma lista de permissões por módulo: criar, editar, consultar, eliminar, vender, autorizar, etc.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91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691640"/>
            <a:ext cx="109728" cy="137160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856232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Auditoria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267712"/>
            <a:ext cx="315467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Registo de quem criou, alterou, eliminou ou executou ações sensíveis no sistema.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03320"/>
            <a:ext cx="10241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O treinador pode acompanhar avaliações físicas sem aceder ao caixa.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O recepcionista pode cadastrar utentes e validar pagamentos permitidos.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O gestor tem visão consólidada de acessos, finanças, vendas e relatórios.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Gestão de utentes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Cadastro, histórico e acompanhamento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Cadastro completo: dados pessoais, contactos, fotografia, unidade de origem e estado.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Histórico de contratos, subscrições, pagamentos, acessos e observações.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Associação com cartão, tag ou outro dispositivo de acesso.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Acompanhamento físico com avaliações mensais e objetivos definidos.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Registos de fidelização, bónus, campanhas e comunicações enviadas.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828800"/>
            <a:ext cx="44348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03720" y="1828800"/>
            <a:ext cx="109728" cy="210312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04888" y="1993392"/>
            <a:ext cx="4114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Resultado prático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4888" y="2404872"/>
            <a:ext cx="4114800" cy="1417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28313B"/>
                </a:solidFill>
                <a:latin typeface="Aptos"/>
              </a:rPr>
              <a:t>O ginásio sabe quem é o utente, se pode entrar, o que já pagou, como está a treinar, quando deve voltar para avaliação e que comunicações recebeu.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Pacotes, subscrições e contratos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Regras comerciais do ginásio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2148840" cy="41148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6479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Diário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691640"/>
            <a:ext cx="2148840" cy="41148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76479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Semanal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2148840" cy="4114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76479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Quinzenal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691640"/>
            <a:ext cx="2148840" cy="41148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25712" y="176479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Mensal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31720"/>
            <a:ext cx="2148840" cy="41148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40487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Anual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331720"/>
            <a:ext cx="2148840" cy="41148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240487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Avulso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331720"/>
            <a:ext cx="2148840" cy="4114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40487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Premium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331720"/>
            <a:ext cx="2148840" cy="41148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5712" y="240487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Aulas + Musculação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33756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Cada contrato tem data de início, data de fim, preço, estado e pacote associado.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Estados possíveis: ativo, vencido, suspenso, cancelado ou pendente de pagamento.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O sistema pode controlar renovação, reativação e histórico de alteráções.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A política de acesso depende do contrato e das regras da unidade.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Controlo de acesso por cartão/tag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Validação antes de liberar a entrada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594360" cy="594360"/>
          </a:xfrm>
          <a:prstGeom prst="ellipse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38528"/>
            <a:ext cx="594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60604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28313B"/>
                </a:solidFill>
                <a:latin typeface="Aptos"/>
              </a:rPr>
              <a:t>Utente passa cartão/tag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07592" y="2121408"/>
            <a:ext cx="1389888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971800" y="1828800"/>
            <a:ext cx="594360" cy="594360"/>
          </a:xfrm>
          <a:prstGeom prst="ellipse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938528"/>
            <a:ext cx="594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5768" y="260604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28313B"/>
                </a:solidFill>
                <a:latin typeface="Aptos"/>
              </a:rPr>
              <a:t>Sistema identifica dispositivo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93592" y="2121408"/>
            <a:ext cx="1389888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257800" y="1828800"/>
            <a:ext cx="594360" cy="594360"/>
          </a:xfrm>
          <a:prstGeom prst="ellipse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1938528"/>
            <a:ext cx="594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1768" y="260604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28313B"/>
                </a:solidFill>
                <a:latin typeface="Aptos"/>
              </a:rPr>
              <a:t>Valida contrato e pagamento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79592" y="2121408"/>
            <a:ext cx="1389888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543800" y="1828800"/>
            <a:ext cx="594360" cy="594360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1938528"/>
            <a:ext cx="594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7768" y="260604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28313B"/>
                </a:solidFill>
                <a:latin typeface="Aptos"/>
              </a:rPr>
              <a:t>Autoriza ou bloqueia acesso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65592" y="2121408"/>
            <a:ext cx="1389888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829800" y="1828800"/>
            <a:ext cx="594360" cy="594360"/>
          </a:xfrm>
          <a:prstGeom prst="ellipse">
            <a:avLst/>
          </a:prstGeom>
          <a:solidFill>
            <a:srgbClr val="0E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9800" y="1938528"/>
            <a:ext cx="594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73768" y="260604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28313B"/>
                </a:solidFill>
                <a:latin typeface="Aptos"/>
              </a:rPr>
              <a:t>Regista histórico da tentativa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4160520"/>
            <a:ext cx="99669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7280" y="4160520"/>
            <a:ext cx="109728" cy="1143000"/>
          </a:xfrm>
          <a:prstGeom prst="roundRect">
            <a:avLst/>
          </a:prstGeom>
          <a:solidFill>
            <a:srgbClr val="D14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98448" y="4325112"/>
            <a:ext cx="9646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Motivos de bloqueio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" y="4736592"/>
            <a:ext cx="9646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28313B"/>
                </a:solidFill>
                <a:latin typeface="Aptos"/>
              </a:rPr>
              <a:t>Contrato vencido, pagamento pendente, dispositivo bloqueado, cartão desconhecido, limite multiunidade atingido ou regra configurável.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Avaliação física e evolução do utente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Acompanhamento periódico do progresso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5577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Registo de peso, altura, medidas, objetivos, observações e treinador responsável.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Agendamento da próxima avaliação com base na data de início ou regra mensal.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Histórico de evolução para comparar resultados ao longo do tempo.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Alertas e SMS para lembrar o utente da próxima avaliação física.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874519"/>
            <a:ext cx="4297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0" y="1874519"/>
            <a:ext cx="109728" cy="164592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9168" y="2039112"/>
            <a:ext cx="3977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Exemplo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9168" y="2450591"/>
            <a:ext cx="39776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28313B"/>
                </a:solidFill>
                <a:latin typeface="Aptos"/>
              </a:rPr>
              <a:t>Se o utente começa a treinar no dia 4, o sistema pode sugerir uma avaliação física a cada dia 4 dos meses seguintes.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886200"/>
            <a:ext cx="4297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0" y="3886200"/>
            <a:ext cx="109728" cy="13258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59168" y="4050791"/>
            <a:ext cx="3977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Benefício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168" y="4462272"/>
            <a:ext cx="3977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28313B"/>
                </a:solidFill>
                <a:latin typeface="Aptos"/>
              </a:rPr>
              <a:t>O treinador acompanha resultados, melhora a orientação e aumenta a perceção de valor do serviço.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Loja, produtos e serviços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Vendas integradas ao caixa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3474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9728" cy="141732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56232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Produtos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267712"/>
            <a:ext cx="31546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Suplementos, água, roupas, acessórios e outros itens com controlo de estoque.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74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109728" cy="141732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856232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Serviços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267712"/>
            <a:ext cx="31546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Personal trainer, avaliação extra, aulas avulsas, reativação e outros serviços.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691640"/>
            <a:ext cx="3474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5279" y="1691640"/>
            <a:ext cx="109728" cy="141732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856232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Movimentos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8" y="2267712"/>
            <a:ext cx="31546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Entrada, saída, venda, ajuste, perda, devolução e histórico de movimentações.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7947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A venda é registada com itens, quantidade, preço, desconto e total.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Produtos com estoque geram movimentos automáticos na venda.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O recebimento financeiro fica ligado ao caixa através de transações.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Caixa e transações financeiras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Um centro único para entradas e saídas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Mensalidades, anuidades e planos avulsos.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Produtos e serviços vendidos.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Reativação de contrato.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Ajustes, devoluções e outras movimentações.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4663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0" y="1691640"/>
            <a:ext cx="109728" cy="1508760"/>
          </a:xfrm>
          <a:prstGeom prst="roundRect">
            <a:avLst/>
          </a:prstGeom>
          <a:solidFill>
            <a:srgbClr val="0E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1856232"/>
            <a:ext cx="4343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CashierTransaction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2267712"/>
            <a:ext cx="4343400" cy="8229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28313B"/>
                </a:solidFill>
                <a:latin typeface="Aptos"/>
              </a:rPr>
              <a:t>Cada transação identifica origem, valor, forma de pagamento, operador, unidade e sessão de caixa.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520440"/>
            <a:ext cx="4663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109728" cy="13258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1968" y="3685032"/>
            <a:ext cx="4343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Formas de pagamento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4096512"/>
            <a:ext cx="4343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28313B"/>
                </a:solidFill>
                <a:latin typeface="Aptos"/>
              </a:rPr>
              <a:t>Dinheiro, cartão, transferência bancária, mobile money ou outros métodos configuráveis.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CRM, fidelização e bónus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Relacionamento ativo com o utente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4983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9728" cy="1234440"/>
          </a:xfrm>
          <a:prstGeom prst="roundRect">
            <a:avLst/>
          </a:prstGeom>
          <a:solidFill>
            <a:srgbClr val="D14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56232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Ausentes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26771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8313B"/>
                </a:solidFill>
                <a:latin typeface="Aptos"/>
              </a:rPr>
              <a:t>Identificar utentes que não aparecem há vários dias.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4983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691640"/>
            <a:ext cx="109728" cy="123444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856232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Bónus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26771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8313B"/>
                </a:solidFill>
                <a:latin typeface="Aptos"/>
              </a:rPr>
              <a:t>Atribuir dias grátis, descontos ou benefícios por fidelização.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291840"/>
            <a:ext cx="4983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291840"/>
            <a:ext cx="109728" cy="123444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56432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Campanhas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86791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8313B"/>
                </a:solidFill>
                <a:latin typeface="Aptos"/>
              </a:rPr>
              <a:t>Criar promoções para renovação, reativação ou venda de serviços.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291840"/>
            <a:ext cx="4983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3291840"/>
            <a:ext cx="109728" cy="123444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456432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Histórico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86791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8313B"/>
                </a:solidFill>
                <a:latin typeface="Aptos"/>
              </a:rPr>
              <a:t>Registar SMS, contactos, campanhas e respostas do utente.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57800"/>
            <a:ext cx="10149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0E2340"/>
                </a:solidFill>
                <a:latin typeface="Aptos"/>
              </a:rPr>
              <a:t>Objetivo: manter os utentes ativos, recuperar clientes inativos e aumentar a retenção.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Critérios para envio de SMS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Automação com o provedor SMS existente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515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Boas-vindas quando o utente é cadastrado.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Aviso X dias antes do vencimento do contrato.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Notificação quando o contrato vence.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Mensagem para ausentes após 7, 15 ou 30 dias sem acesso.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Lembrete de avaliação física/check-up.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Aniversário do utente.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Bónus, promoções e campanhas de reativação.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Alerta de pagamento pendente ou bloqueio iminente.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Ginásios do mesmo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Acesso entre unidades com regras configuráveis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424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0">
                <a:solidFill>
                  <a:srgbClr val="28313B"/>
                </a:solidFill>
                <a:latin typeface="Aptos"/>
              </a:rPr>
              <a:t>Um utente cadastrado numa unidade pode frequentar outra unidade do mesmo grupo, respeitando as regras de pacote, preço e limite de dias.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743200"/>
            <a:ext cx="3291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743200"/>
            <a:ext cx="109728" cy="132588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07792"/>
            <a:ext cx="2971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Mesmo grupo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319272"/>
            <a:ext cx="2971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A API web centraliza os dados e permite que as unidades reconheçam o utente.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743200"/>
            <a:ext cx="3291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2743200"/>
            <a:ext cx="109728" cy="132588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2907792"/>
            <a:ext cx="2971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Pacotes diferentes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3319272"/>
            <a:ext cx="2971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Se houver diferença de pacote/preço, o sistema pode limitar o acesso externo.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743200"/>
            <a:ext cx="3291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01000" y="2743200"/>
            <a:ext cx="109728" cy="13258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2907792"/>
            <a:ext cx="2971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Limite configurável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3319272"/>
            <a:ext cx="2971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Exemplo: permitir apenas 10 dias numa unidade diferente da unidade de origem.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Arquitetura proposta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C# WPF com arquitetura limpa e API web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920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28800"/>
            <a:ext cx="109728" cy="196596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993392"/>
            <a:ext cx="1600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WPF /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404872"/>
            <a:ext cx="1600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Telas desktop, MVVM, navegação e interáção do utilizador.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52928" y="2816352"/>
            <a:ext cx="274320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54680" y="1828800"/>
            <a:ext cx="1920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54680" y="1828800"/>
            <a:ext cx="109728" cy="196596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993392"/>
            <a:ext cx="1600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Aplicação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5848" y="2404872"/>
            <a:ext cx="1600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Casos de uso: cadastrar, pagar, validar acesso, vender, sincronizar.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93208" y="2816352"/>
            <a:ext cx="274320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94960" y="1828800"/>
            <a:ext cx="1920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1828800"/>
            <a:ext cx="109728" cy="196596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96128" y="1993392"/>
            <a:ext cx="1600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Domínio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2404872"/>
            <a:ext cx="1600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Entidades, regras de negócio e invariantes centrais.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33488" y="2816352"/>
            <a:ext cx="274320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635240" y="1828800"/>
            <a:ext cx="1920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35240" y="1828800"/>
            <a:ext cx="109728" cy="196596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36408" y="1993392"/>
            <a:ext cx="1600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Infraestrutura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6408" y="2404872"/>
            <a:ext cx="1600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Banco local, API, catraca, SMS, repositórios e integrações.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73768" y="2816352"/>
            <a:ext cx="274320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875520" y="1828800"/>
            <a:ext cx="1920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875520" y="1828800"/>
            <a:ext cx="109728" cy="1965960"/>
          </a:xfrm>
          <a:prstGeom prst="roundRect">
            <a:avLst/>
          </a:prstGeom>
          <a:solidFill>
            <a:srgbClr val="0E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76688" y="1993392"/>
            <a:ext cx="1600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API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6688" y="2404872"/>
            <a:ext cx="1600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Dados centralizados, sincronização e expansão futura.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1">
                <a:solidFill>
                  <a:srgbClr val="0E2340"/>
                </a:solidFill>
                <a:latin typeface="Aptos"/>
              </a:rPr>
              <a:t>Separação clara entre regras de negócio, interface, banco de dados e integrações externas.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Desktop offline + sincronização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Operação local mesmo com falha de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9728" cy="141732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90195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Banco 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13432"/>
            <a:ext cx="3017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O desktop mantém dados essenciais para operar acessos, pagamentos e cadastros.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3736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34840" y="1737360"/>
            <a:ext cx="109728" cy="141732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190195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Fila de sincronização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313432"/>
            <a:ext cx="3017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Alteráções locais ficam pendentes até serem enviadas à API web.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737360"/>
            <a:ext cx="109728" cy="141732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90195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Servidor central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313432"/>
            <a:ext cx="3017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A API consólida dados entre unidades e permite gestão futura pela web.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49039"/>
            <a:ext cx="10149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8313B"/>
                </a:solidFill>
                <a:latin typeface="Aptos"/>
              </a:defRPr>
            </a:pPr>
            <a:r>
              <a:t>A catraca continua a funcionar com os dados sincronizados localmente.</a:t>
            </a:r>
          </a:p>
          <a:p>
            <a:pPr>
              <a:spcAft>
                <a:spcPts val="700"/>
              </a:spcAft>
              <a:defRPr sz="1700">
                <a:solidFill>
                  <a:srgbClr val="28313B"/>
                </a:solidFill>
                <a:latin typeface="Aptos"/>
              </a:defRPr>
            </a:pPr>
            <a:r>
              <a:t>Pagamentos, acessos e vendas podem ser registados localmente.</a:t>
            </a:r>
          </a:p>
          <a:p>
            <a:pPr>
              <a:spcAft>
                <a:spcPts val="700"/>
              </a:spcAft>
              <a:defRPr sz="1700">
                <a:solidFill>
                  <a:srgbClr val="28313B"/>
                </a:solidFill>
                <a:latin typeface="Aptos"/>
              </a:defRPr>
            </a:pPr>
            <a:r>
              <a:t>Quando a internet voltar, os dados são sincronizados com o servidor.</a:t>
            </a:r>
          </a:p>
          <a:p>
            <a:pPr>
              <a:spcAft>
                <a:spcPts val="700"/>
              </a:spcAft>
              <a:defRPr sz="1700">
                <a:solidFill>
                  <a:srgbClr val="28313B"/>
                </a:solidFill>
                <a:latin typeface="Aptos"/>
              </a:defRPr>
            </a:pPr>
            <a:r>
              <a:t>Conflitos podem ser identificados por versão, data e estado de sincronização.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Benefícios para o cliente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Valor entregue ao ginásio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37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109728" cy="132588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1051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Mais controlo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221992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Operação organizada e auditável.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645920"/>
            <a:ext cx="3337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1645920"/>
            <a:ext cx="109728" cy="1325880"/>
          </a:xfrm>
          <a:prstGeom prst="roundRect">
            <a:avLst/>
          </a:prstGeom>
          <a:solidFill>
            <a:srgbClr val="D14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7448" y="181051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Menos perdas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2221992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Bloqueio automático de inadimplentes e acessos indevidos.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337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1645920"/>
            <a:ext cx="109728" cy="13258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81051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Melhor caixa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221992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Visão clara de entradas, vendas e formas de pagamento.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337560"/>
            <a:ext cx="3337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3337560"/>
            <a:ext cx="109728" cy="132588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350215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Mais retenção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913632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CRM, SMS e bónus para manter clientes ativos.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26280" y="3337560"/>
            <a:ext cx="3337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26280" y="3337560"/>
            <a:ext cx="109728" cy="132588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27448" y="350215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Crescimento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27448" y="3913632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Preparado para várias unidades do mesmo grupo.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337560"/>
            <a:ext cx="3337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0" y="3337560"/>
            <a:ext cx="109728" cy="1325880"/>
          </a:xfrm>
          <a:prstGeom prst="roundRect">
            <a:avLst/>
          </a:prstGeom>
          <a:solidFill>
            <a:srgbClr val="0E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0768" y="350215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Dados confiáveis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0768" y="3913632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Histórico completo para decisões e relatórios.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3152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"/>
              </a:rPr>
              <a:t>Resumo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469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ptos"/>
              </a:rPr>
              <a:t>O sistema será uma plataforma completa para gerir o ginásio de ponta a ponta: cadastro, contratos, pagamentos, acesso, caixa, loja, acompanhamento físico, CRM, SMS, fidelização e gestão multiunidade.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00AEC7"/>
                </a:solidFill>
                <a:latin typeface="Aptos"/>
              </a:rPr>
              <a:t>Preparado para iniciar no desktop e crescer com dados centralizados na API web.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5074920"/>
            <a:ext cx="3886200" cy="50292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87952" y="5148072"/>
            <a:ext cx="37398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Pronto para evoluir para MVP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Roadmap por etapas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Evolução planejada do sistema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35204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109728" cy="205740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1901952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Etapa 1 - Desktop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31720"/>
            <a:ext cx="3200400" cy="1344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Sistema desktop operacional, sem CRM, sem Web API, sem mobile e sem integração com outros ginásios. Inclui backup na nuvem.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37360"/>
            <a:ext cx="35204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34840" y="1737360"/>
            <a:ext cx="109728" cy="205740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1901952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Etapa 2 - Web + CRM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331720"/>
            <a:ext cx="3200400" cy="1344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Web API, painel web para monitoramento remoto, sincronização, CRM, campanhas, bónus e SMS.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737360"/>
            <a:ext cx="35204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737360"/>
            <a:ext cx="109728" cy="205740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901952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Etapa 3 - Mobile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31720"/>
            <a:ext cx="3200400" cy="1344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App mobile para utentes visualizarem contrato, pagamentos, acessos, evolução física, bónus e notificações.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54880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1">
                <a:solidFill>
                  <a:srgbClr val="0E2340"/>
                </a:solidFill>
                <a:latin typeface="Aptos"/>
              </a:rPr>
              <a:t>A estratégia reduz risco: primeiro entrega operação local, depois gestão remota e por fim experiência mobile para o utente.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Estimativa considerando base existente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Cenário: arquitetura limpa e UI WPF já disponíveis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26517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9728" cy="164592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901952"/>
            <a:ext cx="2331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Etapa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31720"/>
            <a:ext cx="2331720" cy="9326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28313B"/>
                </a:solidFill>
                <a:latin typeface="Aptos"/>
              </a:rPr>
              <a:t>25 a 40 dias
Desktop base + backup na nuvem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737360"/>
            <a:ext cx="26517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11880" y="1737360"/>
            <a:ext cx="109728" cy="164592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3048" y="1901952"/>
            <a:ext cx="2331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Etapa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3048" y="2331720"/>
            <a:ext cx="2331720" cy="9326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28313B"/>
                </a:solidFill>
                <a:latin typeface="Aptos"/>
              </a:rPr>
              <a:t>25 a 40 dias
Web API + painel web + CRM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737360"/>
            <a:ext cx="26517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0" y="1737360"/>
            <a:ext cx="109728" cy="164592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901952"/>
            <a:ext cx="2331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Etapa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2331720"/>
            <a:ext cx="2331720" cy="9326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28313B"/>
                </a:solidFill>
                <a:latin typeface="Aptos"/>
              </a:rPr>
              <a:t>20 a 30 dias
App mobile para utentes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20" y="1737360"/>
            <a:ext cx="2240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89720" y="1737360"/>
            <a:ext cx="109728" cy="1645920"/>
          </a:xfrm>
          <a:prstGeom prst="roundRect">
            <a:avLst/>
          </a:prstGeom>
          <a:solidFill>
            <a:srgbClr val="0E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0888" y="1901952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0888" y="2331720"/>
            <a:ext cx="1920240" cy="9326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28313B"/>
                </a:solidFill>
                <a:latin typeface="Aptos"/>
              </a:rPr>
              <a:t>70 a 110 dias
Sistema completo nas três etapas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977639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8313B"/>
                </a:solidFill>
                <a:latin typeface="Aptos"/>
              </a:defRPr>
            </a:pPr>
            <a:r>
              <a:t>Estimativa em dias de trabalho, não dias corridos.</a:t>
            </a:r>
          </a:p>
          <a:p>
            <a:pPr>
              <a:spcAft>
                <a:spcPts val="700"/>
              </a:spcAft>
              <a:defRPr sz="1700">
                <a:solidFill>
                  <a:srgbClr val="28313B"/>
                </a:solidFill>
                <a:latin typeface="Aptos"/>
              </a:defRPr>
            </a:pPr>
            <a:r>
              <a:t>Base de cálculo: 9 horas por dia e 5 dias por semana.</a:t>
            </a:r>
          </a:p>
          <a:p>
            <a:pPr>
              <a:spcAft>
                <a:spcPts val="700"/>
              </a:spcAft>
              <a:defRPr sz="1700">
                <a:solidFill>
                  <a:srgbClr val="28313B"/>
                </a:solidFill>
                <a:latin typeface="Aptos"/>
              </a:defRPr>
            </a:pPr>
            <a:r>
              <a:t>Varia conforme catraca/cartões, relatórios, backup, regras de caixa, SMS e gateway de pagamento.</a:t>
            </a:r>
          </a:p>
          <a:p>
            <a:pPr>
              <a:spcAft>
                <a:spcPts val="700"/>
              </a:spcAft>
              <a:defRPr sz="1700">
                <a:solidFill>
                  <a:srgbClr val="28313B"/>
                </a:solidFill>
                <a:latin typeface="Aptos"/>
              </a:defRPr>
            </a:pPr>
            <a:r>
              <a:t>A Etapa 1 deve ser tratada como MVP operacional do ginásio.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